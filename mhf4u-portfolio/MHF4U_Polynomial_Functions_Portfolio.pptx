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6537960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8521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C7B4"/>
                </a:solidFill>
                <a:latin typeface="Arial"/>
                <a:ea typeface="Arial"/>
                <a:cs typeface="Arial"/>
              </a:rPr>
              <a:t>MHF4U   ·   GRADE 12 ADVANCED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17320"/>
            <a:ext cx="594360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Polynomial
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3246120"/>
            <a:ext cx="1280160" cy="41148"/>
          </a:xfrm>
          <a:prstGeom prst="rect">
            <a:avLst/>
          </a:prstGeom>
          <a:solidFill>
            <a:srgbClr val="E7C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58521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Math Communication Portfolio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5E0EA"/>
                </a:solidFill>
                <a:latin typeface="Arial"/>
                <a:ea typeface="Arial"/>
                <a:cs typeface="Arial"/>
              </a:rPr>
              <a:t>Strand C  ·  Polynomial and Rational Functions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A"/>
                </a:solidFill>
                <a:latin typeface="Arial"/>
                <a:ea typeface="Arial"/>
                <a:cs typeface="Arial"/>
              </a:rPr>
              <a:t>Expectations C1, C3, and C4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58521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 ________________________________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5E0EA"/>
                </a:solidFill>
                <a:latin typeface="Arial"/>
                <a:ea typeface="Arial"/>
                <a:cs typeface="Arial"/>
              </a:rPr>
              <a:t>26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02920"/>
            <a:ext cx="4663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WHAT THIS PORTFOLIO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868680"/>
            <a:ext cx="466344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My understanding of polynomial functions, using the language of the course and work from this unit.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2103120"/>
            <a:ext cx="4709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2103120"/>
            <a:ext cx="73152" cy="1234440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194560"/>
            <a:ext cx="429768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01   </a:t>
            </a:r>
            <a:r>
              <a:rPr sz="12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C1   </a:t>
            </a:r>
            <a:r>
              <a:rPr sz="15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Graphs and equations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42032"/>
            <a:ext cx="429768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Degree, end behaviour, finite differences, order of a zero, and the parameters a, k, d, and 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3474720"/>
            <a:ext cx="4709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3474720"/>
            <a:ext cx="73152" cy="1234440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566160"/>
            <a:ext cx="429768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02   </a:t>
            </a:r>
            <a:r>
              <a:rPr sz="12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C3   </a:t>
            </a:r>
            <a:r>
              <a:rPr sz="15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Polynomial equations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913631"/>
            <a:ext cx="429768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Synthetic division, long division, the remainder theorem, the factor theorem, and the rational zero theorem.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4846320"/>
            <a:ext cx="4709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846320"/>
            <a:ext cx="73152" cy="1234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4937759"/>
            <a:ext cx="429768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03   </a:t>
            </a:r>
            <a:r>
              <a:rPr sz="12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C4   </a:t>
            </a:r>
            <a:r>
              <a:rPr sz="15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Polynomial inequalities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285231"/>
            <a:ext cx="429768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Factor tables, interval notation, and a model whose domain has to be restricted.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COURSE OUTLINE  ·  OVERALL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Learning goals for this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41248"/>
            <a:ext cx="112471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These are the polynomial expectations from the MHF4U course. Each artifact is tied to the specific expectation it shows.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70432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81328"/>
            <a:ext cx="1132027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481328"/>
            <a:ext cx="91440" cy="1517904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107899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C1    </a:t>
            </a: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Connecting graphs and equations of polynomial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10835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Identify and describe key features of polynomial functions, and make connections between the numeric, graphical, and algebraic representations.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68880"/>
            <a:ext cx="1083564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C1.1 recognize a polynomial  ·  C1.2 compare representations, including finite differences  ·  C1.3 describe key features  ·  C1.5 factored form and x-intercepts  ·  C1.6 parameters a, k, d, c  ·  C1.8 families of functions  ·  C1.9 even and odd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108960"/>
            <a:ext cx="1132027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3108960"/>
            <a:ext cx="91440" cy="1517904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00400"/>
            <a:ext cx="107899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C3    </a:t>
            </a: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Solving polynomial equations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47872"/>
            <a:ext cx="10835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Solve polynomial equations of degree at most four by factoring, and connect the real roots of an equation to the x-intercepts of the graph.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96512"/>
            <a:ext cx="1083564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C3.1 remainder theorem and factor theorem  ·  C3.2 factor polynomials  ·  C3.3 roots and x-intercepts  ·  C3.4 solve equations  ·  C3.7 applications, including unknown coefficients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4736592"/>
            <a:ext cx="1132027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4736592"/>
            <a:ext cx="91440" cy="15179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28031"/>
            <a:ext cx="107899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C4    </a:t>
            </a: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Solving polynomial inequalities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175504"/>
            <a:ext cx="10835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Explain how the solution of an inequality differs from the solution of an equation, and solve a factorable polynomial inequality.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24144"/>
            <a:ext cx="1083564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C4.1 equation versus inequality  ·  C4.2 solve from a graph  ·  C4.3 solve with zeros, a test point or a factor table, and interval notation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What I am using as evidence of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41248"/>
            <a:ext cx="112471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I wrote these from the specific expectations. An artifact belongs in the portfolio only if it meets one of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70432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5669280" cy="420624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99616"/>
            <a:ext cx="53949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   Graphs and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75104"/>
            <a:ext cx="5413248" cy="43159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state the degree, the leading coefficient, and the constant term of a polynomial function.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give the domain, the range, the end behaviour, and any symmetry, using interval notation.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tell a local maximum or minimum from an absolute maximum or minimum.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use finite differences to find the degree and the leading coefficient, with Δⁿy = a · n!.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use the order of each zero to sketch from factored form and to write a family of functions.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describe a, k, d, and c, and apply the mapping (x, y) → (x/k + d, ay + c).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separate an even or odd degree from an even or odd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444752"/>
            <a:ext cx="5596128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44752"/>
            <a:ext cx="5596128" cy="420624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499616"/>
            <a:ext cx="5321808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  &amp;  C4   Equations and inequalities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975104"/>
            <a:ext cx="5340096" cy="43159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choose synthetic division for a divisor x − b, and long division when the divisor is not linear.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write the division statement P(x) = (divisor)(quotient) + remainder, with the remainder of smaller degree.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use the remainder theorem, including a divisor ax − b, where the remainder is P(b/a).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use the factor theorem and the rational zero theorem to factor a cubic or a quartic.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state the roots of an equation and, separately, the x-intercepts of the graph.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solve a polynomial inequality with a factor table and matching interval notation.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can restrict an answer so that it makes sense in the context of the problem.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C1   ·   STRAND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What the graph is telling me before I plot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444752"/>
            <a:ext cx="373075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3730752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401568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End behaviour is decided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401568" cy="3429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degree tells me whether the ends behave in the same way or in opposite ways. The leading coefficient tells me which quadrants. A positive odd degree extends from Quadrant 3 to Quadrant 1. A negative odd degree extends from Quadrant 2 to Quadrant 4. A positive even degree extends from Quadrant 2 to Quadrant 1. A negative even degree extends from Quadrant 3 to Quadrant 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44752"/>
            <a:ext cx="373075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444752"/>
            <a:ext cx="3730752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64208"/>
            <a:ext cx="3401568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Degree limits the graph. It does not fill it 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97480"/>
            <a:ext cx="3401568" cy="3429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A polynomial of degree n has at most n distinct zeros and at most n − 1 turning points. An odd degree must have at least one real zero, because the ends go to opposite infinities, so the graph has to cross the x-axis. An even degree can have no x-intercept at all. A particular graph can have fewer turning points than the maximum.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1444752"/>
            <a:ext cx="373075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444752"/>
            <a:ext cx="3730752" cy="91440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8"/>
            <a:ext cx="3401568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Even degree is not an even function.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401568" cy="3429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An even function satisfies f(−x) = f(x) and has line symmetry about the y-axis. An odd function satisfies f(−x) = −f(x) and has point symmetry about the origin. Every exponent has to agree, and an odd function cannot have a constant term. f(x) = x³ + 1 is degree 3, but it is neither even nor odd.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1   ·   POWER FUNCTIONS, EXAMPLE 4(a)   ·   C1.3, C1.9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Key features of y = −x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59893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99616"/>
            <a:ext cx="5742432" cy="2983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389888"/>
            <a:ext cx="5212080" cy="4983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What this work shows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y = −x is a power function, f(x) = axⁿ, with a = −1 and n = 1. The domain and the range are both (−∞, ∞).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End behaviour: as x → −∞, y → ∞, and as x → ∞, y → −∞. The graph extends from Quadrant 2 to Quadrant 4. That is the negative odd-degree case.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It has point symmetry about the origin, so it is an odd function. I can also check the rule: f(−x) = −(−x) = x = −f(x).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degree being odd is not what makes it an odd function. f(x) = −x + 1 is still degree 1, but f(−x) = x + 1, which is neither f(x) nor −f(x). The constant term breaks the point symmetry.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C1.9   ·   TERMINOLOGY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Even and odd: the degree compared with the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41248"/>
            <a:ext cx="112471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A polynomial can have an even or odd degree without being an even or odd function. The function test is algebraic.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70432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481328"/>
          <a:ext cx="11430000" cy="3794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5960"/>
                <a:gridCol w="3154680"/>
                <a:gridCol w="3154680"/>
                <a:gridCol w="3154680"/>
              </a:tblGrid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Even function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Odd function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Neither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Symmetry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Line symmetry about the y-axis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Point symmetry about (0, 0)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Neither of those symmetries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f(−x) = f(x)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f(−x) = −f(x)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Neither equation holds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Exponents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Every exponent is even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Every exponent is odd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The exponents are mixed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Constant term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A constant term is allowed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The constant term must be 0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A constant term is allowed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f(x) = x⁴ − x²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f(x) = −2x³ + 5x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f(x) = x³ + 1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54211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End behaviour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Same on both ends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Opposite ends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Depends on the degree and on a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4048" y="5440680"/>
            <a:ext cx="11430000" cy="987552"/>
          </a:xfrm>
          <a:prstGeom prst="rect">
            <a:avLst/>
          </a:prstGeom>
          <a:solidFill>
            <a:srgbClr val="F3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5532120"/>
            <a:ext cx="111556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On the characteristics quiz, the statement “all odd-degree polynomial functions are odd functions” is false. f(x) = x³ + 1 has odd degree, but f(−x) = −x³ + 1, and −f(x) = −x³ − 1. Those are not equal. The same quiz item is why I keep “degree” and “function” as two different 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2   ·   CHARACTERISTICS OF POLYNOMIAL FUNCTIONS, EXAMPLE 3(a)   ·   C1.2, C1.3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Reading a cubic from its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371600"/>
            <a:ext cx="6537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6327648" cy="35200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353312"/>
            <a:ext cx="4800600" cy="5029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f(x) = 2x³ − 4x² + x + 1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Degree 3, leading coefficient 2 &gt; 0, so the graph extends from Quadrant 3 to Quadrant 1. The constant term is the y-intercept, so the y-intercept is 1. That matched graph (iv).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graph has 3 x-intercepts, the most a cubic can have, and 2 turning points, which is n − 1: one local maximum and one local minimum. There is no absolute maximum and no absolute minimum, because an odd-degree polynomial is unbounded in both directions.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checked the zeros afterwards. f(1) = 0, so x − 1 is a factor. The quotient 2x² − 2x − 1 has two more real zeros, since its discriminant is 4 + 8 = 12. Three real zeros agrees with the graph.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3   ·   CHARACTERISTICS, EXAMPLE 4   ·   C1.2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Finite differences: the table I left blank,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89888"/>
          <a:ext cx="6537960" cy="4160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1560"/>
                <a:gridCol w="1280160"/>
                <a:gridCol w="1371600"/>
                <a:gridCol w="1417320"/>
                <a:gridCol w="1417320"/>
              </a:tblGrid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Second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Third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−36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−12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−14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−8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86600" y="1371600"/>
            <a:ext cx="4709160" cy="4983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What the constant row tells 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third finite differences are the first ones that are constant, so the degree is 3.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They are positive, so the leading coefficient is positive. The value comes from Δⁿy = a · n!.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Δ³y = a · 3! = 6a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6 = 6a, so a = 1.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polynomial that fits the table is y = x³ − x². It has leading coefficient 1, and it matches every value, including y(−1) = −2.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This is the same rule as the quiz item where the fourth finite differences were −48: Δ⁴y = a · 4! = 24a, so a = −2.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4   ·   FACTORED FORM OF A POLYNOMIAL   ·   C1.5, C1.8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Order of a zero, and where the graph changes 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98448"/>
            <a:ext cx="113385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f(x) = (x + 1)²(x + 2)(x − 1)</a:t>
            </a:r>
            <a:r>
              <a:rPr sz="14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      degree 4, leading coefficient positive, y-intercept (0, −2)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755648"/>
          <a:ext cx="7452360" cy="2148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5960"/>
                <a:gridCol w="1828800"/>
                <a:gridCol w="182880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x = −2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x = −1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x = 1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(x + 2)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(x + 1)²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(x − 1)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Order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Shape at the x-axis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Crosses, linear shape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Bounces, parabolic shape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Crosses, linear shape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Sign of f(x)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Changes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Does not change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Changes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737360"/>
            <a:ext cx="37947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SIGN OF f(x)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01000" y="2057400"/>
          <a:ext cx="3749040" cy="18470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1645920"/>
              </a:tblGrid>
              <a:tr h="369417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Interval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</a:t>
                      </a:r>
                    </a:p>
                  </a:txBody>
                  <a:tcPr marL="36576" marR="36576" marT="27432" marB="27432" anchor="ctr">
                    <a:solidFill>
                      <a:srgbClr val="1B365D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(−∞, −2)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(−2, −1)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(−1, 1)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  <a:tr h="3694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(1, ∞)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430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36576" marR="36576" marT="27432" marB="27432" anchor="ctr">
                    <a:solidFill>
                      <a:srgbClr val="F4F1EB"/>
                    </a:solidFill>
                    <a:lnL w="6350">
                      <a:solidFill>
                        <a:srgbClr val="E3DDD4"/>
                      </a:solidFill>
                    </a:lnL>
                    <a:lnR w="6350">
                      <a:solidFill>
                        <a:srgbClr val="E3DDD4"/>
                      </a:solidFill>
                    </a:lnR>
                    <a:lnT w="6350">
                      <a:solidFill>
                        <a:srgbClr val="E3DDD4"/>
                      </a:solidFill>
                    </a:lnT>
                    <a:lnB w="6350">
                      <a:solidFill>
                        <a:srgbClr val="E3DD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" y="4114800"/>
            <a:ext cx="11338560" cy="2286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course uses order for the exponent on a factor. A zero of odd order changes the sign: the graph crosses the x-axis. Order 1 crosses in a linear shape. Order 3 flattens and crosses in an S-shape. A zero of even order does not change the sign. Order 2 bounces off the x-axis.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On my sign chart the sign stays negative on both sides of x = −1. That is the order 2 zero. The two order 1 zeros are where the sign changes. These zeros do not give only one equation. The family is f(x) = k(x + 1)²(x + 2)(x − 1), k ≠ 0. One other point determines k. That is C1.8.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5   ·   TRANSFORMATIONS OF POWER FUNCTIONS, EXAMPLE 3   ·   C1.6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Getting g(x) into the form a[k(x − d)]ⁿ +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80160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parent is f(x) = x⁴. The given equation is g(x) = −((1/3)x + 2)⁴ − 1. I factored k out before I named 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g(x) = −[(1/3)(x + 6)]⁴ − 1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331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331720"/>
            <a:ext cx="2788920" cy="73152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49631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a = 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862072"/>
            <a:ext cx="256032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Reflection in the x-axis. |a| = 1, so there is no vertical stretch or compression.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331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2331720"/>
            <a:ext cx="2788920" cy="73152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249631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k = 1/3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862072"/>
            <a:ext cx="256032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Horizontal stretch by a factor of 3. k is positive, so there is no reflection in the y-axis.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331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2331720"/>
            <a:ext cx="2788920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9631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d = −6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62072"/>
            <a:ext cx="256032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Translation 6 units left. The +2 in the original equation was part of k, not the value of 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62288" y="2331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62288" y="2331720"/>
            <a:ext cx="2788920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249631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c = 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862072"/>
            <a:ext cx="256032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Translation 1 unit down. Stretches and reflections, from a and k, come before translations.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069080"/>
            <a:ext cx="11430000" cy="2331720"/>
          </a:xfrm>
          <a:prstGeom prst="rect">
            <a:avLst/>
          </a:prstGeom>
          <a:solidFill>
            <a:srgbClr val="F3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11109960" cy="2148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Mapping rule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(x, y) → (x/k + d, ay + c) = (3x − 6, −y − 1)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point (2, 16) on the parent maps to (0, −17). That matches the table in my notes. Domain: (−∞, ∞). The parent range [0, ∞) is reflected to (−∞, 0] and then moved down 1, so the range is (−∞, −1]. The absolute maximum point is (−6, −1).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End behaviour: even degree, negative leading coefficient, Quadrant 3 to Quadrant 4. The parent has line symmetry about the y-axis. After the translation, the line of symmetry is x = −6. g is not an even function.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6   ·   ASSIGNMENT 1A, PROBLEM 1   ·   C1.6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A cubic image point, with a and k both different from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98448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Parent f(x) = x³.     g(x) = −2[3(x − 1)]³ − 5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The point (2, 8) lies on the parent. I mapped it after every transformation.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3730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24028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1   </a:t>
            </a: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Name the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651760"/>
            <a:ext cx="34290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a = −2,   k = 3,   d = 1,   c = −5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148840"/>
            <a:ext cx="3730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224028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2   </a:t>
            </a: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Write the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651760"/>
            <a:ext cx="34290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(x, y) → (x/3 + 1,  −2y − 5)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6448" y="2148840"/>
            <a:ext cx="3730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24028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3   </a:t>
            </a: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Substitute (2,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651760"/>
            <a:ext cx="34290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(2/3 + 1,  −16 − 5) = (5/3,  −21)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749039"/>
            <a:ext cx="5669280" cy="2651760"/>
          </a:xfrm>
          <a:prstGeom prst="rect">
            <a:avLst/>
          </a:prstGeom>
          <a:solidFill>
            <a:srgbClr val="E7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749039"/>
            <a:ext cx="5596128" cy="2651760"/>
          </a:xfrm>
          <a:prstGeom prst="rect">
            <a:avLst/>
          </a:prstGeom>
          <a:solidFill>
            <a:srgbClr val="F3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858768"/>
            <a:ext cx="5394960" cy="2423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Key features of 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Point of inflection, the centre of point symmetry: (d, c) = (1, −5).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Domain (−∞, ∞). Range (−∞, ∞), because the degree is odd.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End behaviour: odd degree and a &lt; 0, so the graph extends from Quadrant 2 to Quadrant 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858768"/>
            <a:ext cx="5303520" cy="2423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One valid order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Horizontal compression by a factor of 1/3, vertical stretch by a factor of 2, and a reflection in the x-axis.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Then a translation 1 unit right and 5 units down.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Stretches and reflections come before translations. Translating first would move the wrong 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C3   ·   STRAND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Division is how an equation becomes factors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57150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82296" cy="230428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Remainder theorem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When P(x) is divided by x − b, the remainder is P(b). When the divisor is ax − b, with a ≠ 0, the remainder is P(b/a). I do not have to divide if all I need is the remainder.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417320"/>
            <a:ext cx="57150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417320"/>
            <a:ext cx="82296" cy="2304288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63624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Factor theorem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30352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x − b is a factor of P(x) if and only if P(b) = 0. For a divisor ax − b, the test is P(b/a) = 0. A zero remainder means the divisor is a factor, so it can be used to reduce the degree.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886200"/>
            <a:ext cx="57150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886200"/>
            <a:ext cx="82296" cy="230428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32504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Rational zero theorem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530352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If a rational number p/q, in lowest terms, is a zero, then p is a factor of the constant term and q is a factor of the leading coefficient. The integral zero theorem is the case where the leading coefficient is 1, so q = 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3886200"/>
            <a:ext cx="57150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3886200"/>
            <a:ext cx="82296" cy="2304288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032504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Division 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60"/>
            <a:ext cx="530352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P(x) = (divisor)(quotient) + remainder, and the degree of the remainder is less than the degree of the divisor. A linear divisor leaves a constant remainder. A quadratic divisor leaves a remainder of the form ax + 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7   ·   SYNTHETIC DIVISION, YOU TRY   ·   C3.1, C3.2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The divisor decides the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5806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44752"/>
            <a:ext cx="5577840" cy="30224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6208" y="1353312"/>
            <a:ext cx="5623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ng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394960" cy="3188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4681728"/>
            <a:ext cx="5715000" cy="1783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Synthetic division, because the divisor is x − 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x³ − 4x² + 2x + 3 = (x − 3)(x² − x − 1). The remainder is 0, so both factors divide the dividend. In quotient form, the restriction is x ≠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681728"/>
            <a:ext cx="5486400" cy="1783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Long division, because the divisor is not linear.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 inserted 0x² so no power was missing. The remainder is −5x − 4. A degree 2 divisor can leave a linear remainder. Synthetic division does not apply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8   ·   FACTOR THEOREM, EXAMPLE 6, AND SOLVING EQUATIONS, EXAMPLE 3   ·   C3.2, C3.3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A root is an x-value. An x-intercept is a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806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532120" cy="4800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Factor  P(x) = 2x³ + x² − 7x − 6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Possible values of b, factors of the constant term −6: ±1, ±2, ±3, ±6.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Possible values of a, factors of the leading coefficient 2: ±1, ±2.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Possible rational zeros b/a: ±1, ±1/2, ±2, ±3, ±3/2, ±6.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P(−1) = 0, so x + 1 is a factor. Synthetic division gives the quotient 2x² − x − 6.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2x² − x − 6 = (2x + 3)(x − 2), by grouping.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P(x) = (x + 1)(x − 2)(2x + 3)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Zeros: x = −1, x = 2, x = −3/2.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x-intercepts: (−1, 0), (2, 0), (−3/2, 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486400" cy="5029200"/>
          </a:xfrm>
          <a:prstGeom prst="rect">
            <a:avLst/>
          </a:prstGeom>
          <a:solidFill>
            <a:srgbClr val="F3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81328"/>
            <a:ext cx="5166360" cy="4800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The equation I solved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2x³ + 3x² − 11x − 6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By the rational zero theorem I tested x = 2. f(2) = 0, so x − 2 is a factor. The quotient is 2x² + 7x + 3 = (2x + 1)(x + 3).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(x − 2)(2x + 1)(x + 3)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solutions of the equation, the roots, are x = 2, x = −1/2, and x = −3.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In my lesson note I wrote the solutions as the points (2, 0), (−1/2, 0), and (−3, 0). Those points are the x-intercepts of y = f(x). C3.3 asks for the connection between the two, and it also asks me to keep the names separate. The equation is solved by the three x-values.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9   ·   ASSIGNMENT 1A, PROBLEM 4   ·   C3.1, C3.7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When the remainder is not a constant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8016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Find the remainder when P(x) = x³ + 3x² − x − 2 is divided by (x + 3)(x + 5).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8163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2596896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Why ax +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51760"/>
            <a:ext cx="2596896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divisor has degree 2. The division algorithm says the remainder has degree less than 2, so R(x) = ax + b. It is not a single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28163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2121408"/>
            <a:ext cx="2596896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Use the zeros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651760"/>
            <a:ext cx="2596896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P(x) = (x + 3)(x + 5)Q(x) + ax + b. At a zero of the divisor, the product is 0, so P(zero) = R(zero).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011680"/>
            <a:ext cx="28163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121408"/>
            <a:ext cx="2596896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Two equations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2596896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P(−3) = 1 gives −3a + b = 1. P(−5) = −47 gives −5a + b = −47. Subtracting gives 2a = 48.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2011680"/>
            <a:ext cx="28163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2121408"/>
            <a:ext cx="2596896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The remainder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651760"/>
            <a:ext cx="2596896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a = 24 and b = 73. The remainder is 24x + 73. I can check: R(−3) = −72 + 73 = 1, and R(−5) = −120 + 73 = −47.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11448288" cy="1874519"/>
          </a:xfrm>
          <a:prstGeom prst="rect">
            <a:avLst/>
          </a:prstGeom>
          <a:solidFill>
            <a:srgbClr val="E7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645152"/>
            <a:ext cx="11155680" cy="1645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The same idea, with an unknown polynomial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If f(x) leaves a remainder of 3 when it is divided by x + 2, then f(−2) = 3. For g(x) = f(x) + 4x + 7, the remainder on division by x + 2 is g(−2) = 3 + 4(−2) + 7 = 2. I never need an expression for f(x). The remainder theorem is a statement about the value of the function, not about finding every coefficient.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10   ·   SOLVING POLYNOMIAL INEQUALITIES, YOU TRY (b)   ·   C4.1, C4.3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Solve  −2x³ − 6x² + 12x  ≤  −16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114482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3657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SOLUTION ON THE NUMBER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084831"/>
            <a:ext cx="9692640" cy="2286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13532" y="1975104"/>
            <a:ext cx="27432" cy="237744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4952" y="1993392"/>
            <a:ext cx="164592" cy="164592"/>
          </a:xfrm>
          <a:prstGeom prst="ellipse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2128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−4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1324" y="1975104"/>
            <a:ext cx="27432" cy="237744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52744" y="1993392"/>
            <a:ext cx="164592" cy="164592"/>
          </a:xfrm>
          <a:prstGeom prst="ellipse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22128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9116" y="1975104"/>
            <a:ext cx="27432" cy="237744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60536" y="1993392"/>
            <a:ext cx="164592" cy="164592"/>
          </a:xfrm>
          <a:prstGeom prst="ellipse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2128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27248" y="2029968"/>
            <a:ext cx="2907791" cy="109728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2029968"/>
            <a:ext cx="1938527" cy="109728"/>
          </a:xfrm>
          <a:prstGeom prst="rect">
            <a:avLst/>
          </a:prstGeom>
          <a:solidFill>
            <a:srgbClr val="1F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89888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[−4, −1]  ∪  [2, ∞)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5760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34640"/>
            <a:ext cx="5486400" cy="3474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Algebra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Move every term to one side. The symbol stays ≤ until I multiply or divide by a negative.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−2x³ − 6x² + 12x + 16 ≤ 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−2(x³ + 3x² − 6x − 8) ≤ 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Divide by −2 and reverse the inequality.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(x + 4)(x + 1)(x − 2) ≥ 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product is positive or zero on [−4, −1] and on [2, ∞). At each zero the polynomial equals 0, and 0 satisfies ≥, so the brackets are closed.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743200"/>
            <a:ext cx="5559552" cy="3657600"/>
          </a:xfrm>
          <a:prstGeom prst="rect">
            <a:avLst/>
          </a:prstGeom>
          <a:solidFill>
            <a:srgbClr val="F3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5285232" cy="3474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Brackets, and the list of possible zeros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solution I wrote, −4 ≤ x ≤ −1 or x ≥ 2, matches the interval notation. The brackets are closed because the inequality is inclusive. That is the difference C4.1 asks for: the equation has three solutions, and the inequality has two intervals.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In the list of candidates I wrote ±1, ±2, and ±3 as factors of −8. The integral zero theorem only allows integer factors of the constant term. 3 does not divide 8. The full list is ±1, ±2, ±4, ±8. I still found the factor x + 1, so the zeros did not change, but the list of possible rational zeros was not complete.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ARTIFACT 11   ·   ASSIGNMENT 1B, PROBLEM 3   ·   C3.4, C3.7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A volume model, with a restriction from the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8016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V(y) = 2y³ + y² − 27y − 36    gives the volume, in cm³. The height is h(y) = y + 3.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37673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3767328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40280"/>
            <a:ext cx="347472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Divide by the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926080"/>
            <a:ext cx="347472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The volume is length times width times height, so the quotient is the area of the base. Synthetic division with root −3 gives quotient 2y² − 5y − 12 and remainder 0. The factor theorem agrees: a given linear factor must make the remainder 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057400"/>
            <a:ext cx="37673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057400"/>
            <a:ext cx="3767328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240280"/>
            <a:ext cx="347472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Factor the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926080"/>
            <a:ext cx="347472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2y² − 5y − 12 = (2y + 3)(y − 4). So one possible set of dimensions, in centimetres, is y + 3,  2y + 3,  and y − 4. Length and width can be swapped. The algebra does not decide which is which.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2057400"/>
            <a:ext cx="37673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2057400"/>
            <a:ext cx="3767328" cy="73152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240280"/>
            <a:ext cx="347472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Restrict the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926080"/>
            <a:ext cx="347472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A dimension of a box has to be positive. y + 3 &gt; 0 and 2y + 3 &gt; 0 are both true once y − 4 &gt; 0. The model describes a possible box only when y &gt; 4. That restriction is part of the solution, not an extra comment.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11448288" cy="1170432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376672"/>
            <a:ext cx="1115568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5C57"/>
                </a:solidFill>
                <a:latin typeface="Arial"/>
                <a:ea typeface="Arial"/>
                <a:cs typeface="Arial"/>
              </a:rPr>
              <a:t>Division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2y³ + y² − 27y − 36 = (y + 3)(2y + 3)(y − 4),    for y &gt; 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B32"/>
                </a:solidFill>
                <a:latin typeface="Arial"/>
                <a:ea typeface="Arial"/>
                <a:cs typeface="Arial"/>
              </a:rPr>
              <a:t>ACROSS C1, C3, AND C4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84048"/>
            <a:ext cx="11247120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65D"/>
                </a:solidFill>
                <a:latin typeface="Georgia"/>
                <a:ea typeface="Georgia"/>
                <a:cs typeface="Georgia"/>
              </a:rPr>
              <a:t>The graph, the equation, and the inequality are one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051560" cy="32004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11430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822960" cy="15727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822960" cy="15727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Same zeros, three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10512"/>
            <a:ext cx="102412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f(x) = 0 asks for the roots. The graph shows those roots as x-intercepts, and the order of each zero tells me whether the graph crosses or turns. f(x) ≥ 0 asks which intervals between those zeros make the product positive or zero. A factor table is the sign chart I already used when I sketched from factored 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063240"/>
            <a:ext cx="11430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063240"/>
            <a:ext cx="822960" cy="15727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063240"/>
            <a:ext cx="822960" cy="15727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The algebra is the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02152"/>
            <a:ext cx="102412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Synthetic division and the factor theorem turn an expanded polynomial into factors. The division algorithm tells me what degree of remainder to expect, including a linear remainder when the divisor is quadratic. Finite differences and the leading coefficient tell me the end behaviour when I start from a table instead of an equation.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754880"/>
            <a:ext cx="11430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4754880"/>
            <a:ext cx="822960" cy="1572768"/>
          </a:xfrm>
          <a:prstGeom prst="rect">
            <a:avLst/>
          </a:prstGeom>
          <a:solidFill>
            <a:srgbClr val="8E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754880"/>
            <a:ext cx="822960" cy="15727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65D"/>
                </a:solidFill>
                <a:latin typeface="Arial"/>
                <a:ea typeface="Arial"/>
                <a:cs typeface="Arial"/>
              </a:rPr>
              <a:t>The precise words are the mathematics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93792"/>
            <a:ext cx="102412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Arial"/>
                <a:ea typeface="Arial"/>
                <a:cs typeface="Arial"/>
              </a:rPr>
              <a:t>A root is an x-value. An x-intercept is a point. An odd degree does not make an odd function. k has to be factored into k(x − d) before I name the translation. Square brackets belong to an inclusive inequality, because the zeros satisfy ≥ or ≤ and do not satisfy a strict inequality. Those are the places my own notes had to get more careful.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MHF4U  ·  Advanced Functions  ·  Polynomial Functions  ·  Communication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6019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4"/>
                </a:solidFill>
                <a:latin typeface="Arial"/>
                <a:ea typeface="Arial"/>
                <a:cs typeface="Arial"/>
              </a:rPr>
              <a:t>18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MHF4U Polynomial Functions — Math Communication Portfolio</dc:title>
  <dc:subject>Strand C: Polynomial and Rational Functions (C1, C3, C4)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MHF4U Communication Portfolio</cp:category>
</cp:coreProperties>
</file>